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8"/>
  </p:notesMasterIdLst>
  <p:sldIdLst>
    <p:sldId id="292" r:id="rId2"/>
    <p:sldId id="278" r:id="rId3"/>
    <p:sldId id="293" r:id="rId4"/>
    <p:sldId id="294" r:id="rId5"/>
    <p:sldId id="301" r:id="rId6"/>
    <p:sldId id="302" r:id="rId7"/>
    <p:sldId id="297" r:id="rId8"/>
    <p:sldId id="298" r:id="rId9"/>
    <p:sldId id="299" r:id="rId10"/>
    <p:sldId id="300" r:id="rId11"/>
    <p:sldId id="277" r:id="rId12"/>
    <p:sldId id="287" r:id="rId13"/>
    <p:sldId id="288" r:id="rId14"/>
    <p:sldId id="289" r:id="rId15"/>
    <p:sldId id="290" r:id="rId16"/>
    <p:sldId id="29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B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5A04A1-0341-4670-B5B0-9CE869525225}" v="8" dt="2026-06-22T12:16:38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52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00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04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 und Vorstellung des Teams. Kurz erklären: Wir analysieren den Stromverbrauch von 7 europäischen Ländern über 3 Jahre mit echten Daten der europäischen Netzbetreiber.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Überblick über die drei Säulen des Projekts. Betonen: Das sind echte, offizielle Daten – keine Beispieldaten.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Saisonalität erklären. Highlight: Frankreichs Elektroheizungen machen das Land im Winter zum größten Verbraucher Europas – ein direktes Erbe der Kernkraftstrategie der 70er Jahre (billiger Strom → elektrisches Heizen).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Kontext Energiekrise 2022: Nach dem russischen Angriff auf die Ukraine explodierten die Preise, Industrie und Haushalte sparten massiv. 2023/24 normalisierte sich das. Spannend: Die EU plant mit stark steigender Stromnachfrage – die Daten zeigen das bisher kaum.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B69A5-9ACB-8363-E312-46901E4E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29EA7-2AAB-E5FE-A21A-56DB1E7A7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1CFD6-9FE5-5F2B-0859-D1EE8E595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wichtigste Botschaft dieser Folie: Frankreich sieht mit 24,9 % schlecht aus, hat aber dank Kernkraft eine der niedrigsten CO₂-Intensitäten Europas. Erneuerbar und klimafreundlich sind zwei verschiedene Messlatten.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21DC4-12B6-5030-DFED-D9A85FF7A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09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wichtigste Botschaft dieser Folie: Frankreich sieht mit 24,9 % schlecht aus, hat aber dank Kernkraft eine der niedrigsten CO₂-Intensitäten Europas. Erneuerbar und klimafreundlich sind zwei verschiedene Messlatten.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Diagramm zeigen: Oktober bis Dezember sind die Windbänder dick, im Juni/Juli dominiert gelbes Solar. Braunkohle bleibt als brauner Sockel konstant. Diskussionspunkt: Dunkelflaute = wenig Wind UND wenig Sonne gleichzeitig.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Stärkster Kontrast im Datensatz: Frankreich fast CO2-frei durch Kernkraft, Polen das letzte große Kohleland der EU. Beide Diagramme haben denselben Aufbau – die Farben erzählen die Geschichte.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Beide Länder haben viel Sonne – aber Spanien hat den Solarausbau früher und konsequenter betrieben. Italiens Gasabhängigkeit wurde in der Energiekrise 2022 zum teuren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Wasserkraft ist der ideale Partner für Wind &amp; Solar, weil sie speicherbar und sekundenschnell regelbar ist. Problem: Sie ist geografisch begrenzt – man kann sie kaum ausbauen. Norwegen hatte geografisches Glück.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6AD93-E1C8-B840-FF86-AAB40AE2E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33343-FD0E-1345-4AB2-EBC76898D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F926D-CB93-6B7A-1B33-8A30C9737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Überblick über die drei Säulen des Projekts. Betonen: Das sind echte, offizielle Daten – keine Beispieldaten.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6E8CE-6C61-E78E-C1A1-E7CB1F8A1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49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Jedes Werkzeug mit Alltags-Vergleich erklären: Jupyter = Laborbuch, pandas = Excel von Python, dotenv = Tresor, concurrent.futures = Turbo. So versteht es auch ein nicht-technisches Publikum.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 Datenfluss erklären: Schritt 5 ist der fachlich wichtigste – die Umrechnung von Leistung in Energie. Beispiel nennen: Ein Kraftwerk mit 100 MW, das 2 Stunden läuft, erzeugt 200 MWh.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die spannendste Code-Folie: echte Probleme aus der Praxis. Besonders das Zeitzonenproblem (verschwundener Januar) und der Auflösungswechsel bei Polen/Norwegen zeigen, wie viel Detailarbeit in sauberer Datenanalyse steckt.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 bleiben: Auch erwähnen, was schwierig war (API-Ausfälle, Git-Konflikte im Team). Das zeigt echten Lernfortschritt.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Abschluss. Bei Fragen zur Methodik auf das Notebook verweisen – dort ist jede Zelle dokumentiert.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libri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Calibri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Calibri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Calibri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Calibri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Calibri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Calibri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Calibri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Calibri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Calibri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Europäische Energielastanalyse</a:t>
            </a:r>
            <a:endParaRPr lang="de-DE" sz="3500" noProof="0" dirty="0"/>
          </a:p>
        </p:txBody>
      </p:sp>
      <p:sp>
        <p:nvSpPr>
          <p:cNvPr id="4" name="Text 1"/>
          <p:cNvSpPr/>
          <p:nvPr/>
        </p:nvSpPr>
        <p:spPr>
          <a:xfrm>
            <a:off x="457200" y="1783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60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de-DE" sz="26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50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Jährlicher europäischer Lastvergleich mit ENTSO-E API,</a:t>
            </a:r>
            <a:endParaRPr lang="de-DE" sz="1500" noProof="0" dirty="0"/>
          </a:p>
          <a:p>
            <a:pPr marL="0" indent="0">
              <a:buNone/>
            </a:pPr>
            <a:r>
              <a:rPr lang="de-DE" sz="150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Zeitreihenanalyse &amp; Visualisierung</a:t>
            </a:r>
            <a:endParaRPr lang="de-DE" sz="15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30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 Knorr  ·  Vincent Matt  ·  Anton Hüttner  ·  Martin Rüther</a:t>
            </a:r>
            <a:endParaRPr lang="de-DE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50" i="1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IT-Projekt 2026   |   Repository: Europavergleich-IT-Projekt-2026 /</a:t>
            </a:r>
            <a:endParaRPr lang="de-DE" sz="1050" noProof="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5338FD5-3850-31A0-329C-6046ECB208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76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Projektüberblick</a:t>
            </a:r>
            <a:endParaRPr lang="de-DE" sz="25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50" i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Bausteine: Daten holen, verarbeiten, sichtbar machen</a:t>
            </a:r>
            <a:endParaRPr lang="de-DE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44752" y="14173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Datenquelle</a:t>
            </a:r>
            <a:endParaRPr lang="de-DE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502920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de-DE" sz="115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Transparency </a:t>
            </a:r>
            <a:r>
              <a:rPr lang="de-DE" sz="1150" noProof="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r>
              <a:rPr lang="de-DE" sz="115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die offizielle Datenplattform der europäischen Übertragungsnetzbetreiber. Stündliche bis viertelstündliche Messwerte zu Last &amp; Erzeugung.</a:t>
            </a:r>
            <a:endParaRPr lang="de-DE" sz="1150" noProof="0" dirty="0"/>
          </a:p>
        </p:txBody>
      </p:sp>
      <p:sp>
        <p:nvSpPr>
          <p:cNvPr id="8" name="Shape 5"/>
          <p:cNvSpPr/>
          <p:nvPr/>
        </p:nvSpPr>
        <p:spPr>
          <a:xfrm>
            <a:off x="3227832" y="118872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52544" y="14173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27832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Untersuchung</a:t>
            </a:r>
            <a:endParaRPr lang="de-DE" sz="1600" noProof="0" dirty="0"/>
          </a:p>
        </p:txBody>
      </p:sp>
      <p:sp>
        <p:nvSpPr>
          <p:cNvPr id="11" name="Text 7"/>
          <p:cNvSpPr/>
          <p:nvPr/>
        </p:nvSpPr>
        <p:spPr>
          <a:xfrm>
            <a:off x="3410712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de-DE" sz="115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Länder: Deutschland, Frankreich, Spanien, Italien, Polen, Norwegen, Kroatien.</a:t>
            </a:r>
            <a:endParaRPr lang="de-DE" sz="1150" noProof="0" dirty="0"/>
          </a:p>
          <a:p>
            <a:pPr marL="0" indent="0" algn="ctr">
              <a:buNone/>
            </a:pPr>
            <a:r>
              <a:rPr lang="de-DE" sz="115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dem Jahr 2025 plus laufende Daten (Woche / Monat).</a:t>
            </a:r>
            <a:endParaRPr lang="de-DE" sz="1150" noProof="0" dirty="0"/>
          </a:p>
        </p:txBody>
      </p:sp>
      <p:sp>
        <p:nvSpPr>
          <p:cNvPr id="12" name="Shape 8"/>
          <p:cNvSpPr/>
          <p:nvPr/>
        </p:nvSpPr>
        <p:spPr>
          <a:xfrm>
            <a:off x="6135624" y="118872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260336" y="14173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35624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60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</a:t>
            </a:r>
            <a:endParaRPr lang="de-DE" sz="1600" noProof="0" dirty="0"/>
          </a:p>
        </p:txBody>
      </p:sp>
      <p:sp>
        <p:nvSpPr>
          <p:cNvPr id="15" name="Text 10"/>
          <p:cNvSpPr/>
          <p:nvPr/>
        </p:nvSpPr>
        <p:spPr>
          <a:xfrm>
            <a:off x="6318504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de-DE" sz="115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20 Diagrammtypen: Lastverläufe, Jahresvergleiche, Erneuerbaren-Anteile, Energieträger-Mix, CO₂-Intensität und Prognosevergleiche.</a:t>
            </a:r>
            <a:endParaRPr lang="de-DE" sz="1150" noProof="0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7A26012E-B4FE-DE1C-4B59-DA2C456243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182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00" y="203200"/>
            <a:ext cx="840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dirty="0">
                <a:solidFill>
                  <a:srgbClr val="FFFFFF"/>
                </a:solidFill>
                <a:latin typeface="Calibri" pitchFamily="34" charset="0"/>
              </a:rPr>
              <a:t>Monatliche Stromlast 2025</a:t>
            </a:r>
          </a:p>
        </p:txBody>
      </p:sp>
      <p:sp>
        <p:nvSpPr>
          <p:cNvPr id="5" name="Text 2"/>
          <p:cNvSpPr/>
          <p:nvPr/>
        </p:nvSpPr>
        <p:spPr>
          <a:xfrm>
            <a:off x="320040" y="4187952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850" i="1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ENTSO-E, eigene Berechnung &amp; Darstellung</a:t>
            </a:r>
            <a:endParaRPr lang="de-DE" sz="850" noProof="0" dirty="0"/>
          </a:p>
        </p:txBody>
      </p:sp>
      <p:sp>
        <p:nvSpPr>
          <p:cNvPr id="6" name="Shape 3"/>
          <p:cNvSpPr/>
          <p:nvPr/>
        </p:nvSpPr>
        <p:spPr>
          <a:xfrm>
            <a:off x="6355080" y="1231900"/>
            <a:ext cx="2468880" cy="3175000"/>
          </a:xfrm>
          <a:prstGeom prst="roundRect">
            <a:avLst>
              <a:gd name="adj" fmla="val 3704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4"/>
          <p:cNvSpPr/>
          <p:nvPr/>
        </p:nvSpPr>
        <p:spPr>
          <a:xfrm>
            <a:off x="6492240" y="1353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Energiewirtschaftliche Einordnung</a:t>
            </a:r>
            <a:endParaRPr lang="de-DE" sz="1150" noProof="0" dirty="0"/>
          </a:p>
        </p:txBody>
      </p:sp>
      <p:sp>
        <p:nvSpPr>
          <p:cNvPr id="8" name="Text 5"/>
          <p:cNvSpPr/>
          <p:nvPr/>
        </p:nvSpPr>
        <p:spPr>
          <a:xfrm>
            <a:off x="6473952" y="1828800"/>
            <a:ext cx="2240280" cy="247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 pitchFamily="34" charset="0"/>
              </a:rPr>
              <a:t>Frankreich: elektrische Heizung – Januar über DE (49 vs. 44 TWh)</a:t>
            </a:r>
          </a:p>
          <a:p>
            <a:pPr marL="171450" indent="-171450">
              <a:spcAft>
                <a:spcPts val="600"/>
              </a:spcAft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 pitchFamily="34" charset="0"/>
              </a:rPr>
              <a:t>Italien: Juli-Spitze durch Klimaanlagen</a:t>
            </a:r>
          </a:p>
          <a:p>
            <a:pPr marL="171450" indent="-171450">
              <a:spcAft>
                <a:spcPts val="600"/>
              </a:spcAft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 pitchFamily="34" charset="0"/>
              </a:rPr>
              <a:t>Ausblick: Wärmepumpen &amp; E-Autos erhöhen Winterlast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261B67A-D4E8-F03A-41E2-55C282A54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87" y="1236842"/>
            <a:ext cx="5806800" cy="28790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6CE525-A085-E6B3-CE20-0EF96764C4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935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Veränderung des Jahresverbrauchs</a:t>
            </a:r>
            <a:endParaRPr lang="de-DE" sz="25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50" i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Erholung nach der Energiekrise – aber kein klarer Wachstumstrend</a:t>
            </a:r>
            <a:endParaRPr lang="de-DE" sz="1250" noProof="0" dirty="0"/>
          </a:p>
        </p:txBody>
      </p:sp>
      <p:pic>
        <p:nvPicPr>
          <p:cNvPr id="4" name="Image 0" descr="/home/claude/img/jahresveraender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5806440" cy="2880360"/>
          </a:xfrm>
          <a:prstGeom prst="rect">
            <a:avLst/>
          </a:prstGeom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20040" y="4187952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850" i="1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ENTSO-E, eigene Berechnung &amp; Darstellung</a:t>
            </a:r>
            <a:endParaRPr lang="de-DE" sz="850" noProof="0" dirty="0"/>
          </a:p>
        </p:txBody>
      </p:sp>
      <p:sp>
        <p:nvSpPr>
          <p:cNvPr id="6" name="Shape 3"/>
          <p:cNvSpPr/>
          <p:nvPr/>
        </p:nvSpPr>
        <p:spPr>
          <a:xfrm>
            <a:off x="6355080" y="1231900"/>
            <a:ext cx="2468880" cy="3175000"/>
          </a:xfrm>
          <a:prstGeom prst="roundRect">
            <a:avLst>
              <a:gd name="adj" fmla="val 3704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4"/>
          <p:cNvSpPr/>
          <p:nvPr/>
        </p:nvSpPr>
        <p:spPr>
          <a:xfrm>
            <a:off x="6492240" y="1353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Energiewirtschaftliche Einordnung</a:t>
            </a:r>
            <a:endParaRPr lang="de-DE" sz="1150" noProof="0" dirty="0"/>
          </a:p>
        </p:txBody>
      </p:sp>
      <p:sp>
        <p:nvSpPr>
          <p:cNvPr id="8" name="Text 5"/>
          <p:cNvSpPr/>
          <p:nvPr/>
        </p:nvSpPr>
        <p:spPr>
          <a:xfrm>
            <a:off x="6473952" y="1828800"/>
            <a:ext cx="2240280" cy="247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de-DE" sz="93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→ 2024: Fast überall Wachstum – die Sparmaßnahmen der Energiekrise 2022 liefen aus.</a:t>
            </a:r>
            <a:endParaRPr lang="de-DE" sz="93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de-DE" sz="93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2025: Das Bild dreht sich – Polen −3,1 %, Italien −0,7 % (Effizienz, Wetter, Industrie).</a:t>
            </a:r>
            <a:endParaRPr lang="de-DE" sz="93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de-DE" sz="93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Spanien wächst weiter (+2,7 %) – starke Wirtschaft &amp; Elektrifizierung.</a:t>
            </a:r>
            <a:endParaRPr lang="de-DE" sz="93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de-DE" sz="93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Werte unter ±3,5 %: Stromnachfrage ist träge – der erwartete Boom durch E-Autos &amp; Rechenzentren ist noch kaum sichtbar.</a:t>
            </a:r>
            <a:endParaRPr lang="de-DE" sz="930" noProof="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C659D5B-A61D-68DF-45C6-ED4DD674F1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724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9AF09-FB00-555E-DDF4-422B49D9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067FBA-5EE1-92A5-77BD-23A9630B6E51}"/>
              </a:ext>
            </a:extLst>
          </p:cNvPr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Lebenszyklus CO2-Emissionen (2025)</a:t>
            </a:r>
            <a:endParaRPr lang="de-DE" sz="25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9E1C57-7C84-B172-59DF-EFD4A4BC1B90}"/>
              </a:ext>
            </a:extLst>
          </p:cNvPr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50" i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CO2- Emissionen der einzelnen Energieträger</a:t>
            </a:r>
            <a:endParaRPr lang="de-DE" sz="1250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50101AE-CDF8-E002-E1FE-D903C96D0CB9}"/>
              </a:ext>
            </a:extLst>
          </p:cNvPr>
          <p:cNvSpPr/>
          <p:nvPr/>
        </p:nvSpPr>
        <p:spPr>
          <a:xfrm>
            <a:off x="320040" y="446227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850" i="1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ENTSO-E, eigene Berechnung &amp; Darstellung</a:t>
            </a:r>
            <a:endParaRPr lang="de-DE" sz="850" noProof="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8744647-53A0-53A3-5621-E4C43B302A0A}"/>
              </a:ext>
            </a:extLst>
          </p:cNvPr>
          <p:cNvSpPr/>
          <p:nvPr/>
        </p:nvSpPr>
        <p:spPr>
          <a:xfrm>
            <a:off x="5897880" y="1193800"/>
            <a:ext cx="2926080" cy="3238500"/>
          </a:xfrm>
          <a:prstGeom prst="roundRect">
            <a:avLst>
              <a:gd name="adj" fmla="val 3125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2303A5E-609D-5707-E4E6-B7EE33330A2D}"/>
              </a:ext>
            </a:extLst>
          </p:cNvPr>
          <p:cNvSpPr/>
          <p:nvPr/>
        </p:nvSpPr>
        <p:spPr>
          <a:xfrm>
            <a:off x="6035040" y="1307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Energiewirtschaftliche Einordnung</a:t>
            </a:r>
            <a:endParaRPr lang="de-DE" sz="115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41AF7EE-F300-05B9-2526-AA54A9C4C523}"/>
              </a:ext>
            </a:extLst>
          </p:cNvPr>
          <p:cNvSpPr/>
          <p:nvPr/>
        </p:nvSpPr>
        <p:spPr>
          <a:xfrm>
            <a:off x="6016752" y="1663700"/>
            <a:ext cx="2697480" cy="271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1400"/>
              </a:lnSpc>
              <a:spcAft>
                <a:spcPts val="500"/>
              </a:spcAft>
              <a:buFont typeface="Arial"/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/>
              </a:rPr>
              <a:t>Saisonalität: Winter ~37 Mt, Frühsommer ~22 Mt.</a:t>
            </a:r>
          </a:p>
          <a:p>
            <a:pPr marL="228600" indent="-228600">
              <a:lnSpc>
                <a:spcPts val="1400"/>
              </a:lnSpc>
              <a:spcAft>
                <a:spcPts val="500"/>
              </a:spcAft>
              <a:buFont typeface="Arial"/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/>
              </a:rPr>
              <a:t>Fossile dominieren: Braunkohle, Erdgas, Steinkohle.</a:t>
            </a:r>
          </a:p>
          <a:p>
            <a:pPr marL="228600" indent="-228600">
              <a:lnSpc>
                <a:spcPts val="1400"/>
              </a:lnSpc>
              <a:spcAft>
                <a:spcPts val="500"/>
              </a:spcAft>
              <a:buFont typeface="Arial"/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/>
              </a:rPr>
              <a:t>Erneuerbare &amp; Kernkraft tragen kaum bei.</a:t>
            </a:r>
          </a:p>
          <a:p>
            <a:pPr marL="228600" indent="-228600">
              <a:lnSpc>
                <a:spcPts val="1400"/>
              </a:lnSpc>
              <a:spcAft>
                <a:spcPts val="500"/>
              </a:spcAft>
              <a:buFont typeface="Arial"/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/>
              </a:rPr>
              <a:t>Fazit: Schwankungen durch fossile Träger getrieben.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8E1AD19A-BD7E-505A-FA76-98770B424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61" y="1179576"/>
            <a:ext cx="5544408" cy="315186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0370266-6EE3-4293-FD51-C2918F1570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42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 erneuerbarer Energien (2025)</a:t>
            </a:r>
            <a:endParaRPr lang="de-DE" sz="25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50" i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97,6 % bis 24,9 % – Europas Energiestrategien im Direktvergleich</a:t>
            </a:r>
            <a:endParaRPr lang="de-DE" sz="1250" noProof="0" dirty="0"/>
          </a:p>
        </p:txBody>
      </p:sp>
      <p:pic>
        <p:nvPicPr>
          <p:cNvPr id="4" name="Image 0" descr="/home/claude/img/erneuer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5349240" cy="3200400"/>
          </a:xfrm>
          <a:prstGeom prst="rect">
            <a:avLst/>
          </a:prstGeom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20040" y="446227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850" i="1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ENTSO-E, eigene Berechnung &amp; Darstellung</a:t>
            </a:r>
            <a:endParaRPr lang="de-DE" sz="850" noProof="0" dirty="0"/>
          </a:p>
        </p:txBody>
      </p:sp>
      <p:sp>
        <p:nvSpPr>
          <p:cNvPr id="6" name="Shape 3"/>
          <p:cNvSpPr/>
          <p:nvPr/>
        </p:nvSpPr>
        <p:spPr>
          <a:xfrm>
            <a:off x="5897880" y="1193800"/>
            <a:ext cx="2926080" cy="3238500"/>
          </a:xfrm>
          <a:prstGeom prst="roundRect">
            <a:avLst>
              <a:gd name="adj" fmla="val 3125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4"/>
          <p:cNvSpPr/>
          <p:nvPr/>
        </p:nvSpPr>
        <p:spPr>
          <a:xfrm>
            <a:off x="6035040" y="1307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Energiewirtschaftliche Einordnung</a:t>
            </a:r>
            <a:endParaRPr lang="de-DE" sz="1150" noProof="0" dirty="0"/>
          </a:p>
        </p:txBody>
      </p:sp>
      <p:sp>
        <p:nvSpPr>
          <p:cNvPr id="8" name="Text 5"/>
          <p:cNvSpPr/>
          <p:nvPr/>
        </p:nvSpPr>
        <p:spPr>
          <a:xfrm>
            <a:off x="6016752" y="1663700"/>
            <a:ext cx="2697480" cy="271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1400"/>
              </a:lnSpc>
              <a:spcAft>
                <a:spcPts val="400"/>
              </a:spcAft>
              <a:buFont typeface="Arial"/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/>
              </a:rPr>
              <a:t>Norwegen 97,6 %: „Batterie Europas" dank Wasserkraft.</a:t>
            </a:r>
          </a:p>
          <a:p>
            <a:pPr marL="228600" indent="-228600">
              <a:lnSpc>
                <a:spcPts val="1400"/>
              </a:lnSpc>
              <a:spcAft>
                <a:spcPts val="400"/>
              </a:spcAft>
              <a:buFont typeface="Arial"/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/>
              </a:rPr>
              <a:t>Deutschland 58,9 %: Wind &amp; Solar liefern die Mehrheit.</a:t>
            </a:r>
          </a:p>
          <a:p>
            <a:pPr marL="228600" indent="-228600">
              <a:lnSpc>
                <a:spcPts val="1400"/>
              </a:lnSpc>
              <a:spcAft>
                <a:spcPts val="400"/>
              </a:spcAft>
              <a:buFont typeface="Arial"/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/>
              </a:rPr>
              <a:t>Frankreich 24,9 %: CO₂-arme Kernkraft zählt nicht als erneuerbar.</a:t>
            </a:r>
          </a:p>
          <a:p>
            <a:pPr marL="228600" indent="-228600">
              <a:lnSpc>
                <a:spcPts val="1400"/>
              </a:lnSpc>
              <a:spcAft>
                <a:spcPts val="400"/>
              </a:spcAft>
              <a:buFont typeface="Arial"/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/>
              </a:rPr>
              <a:t>Polen 28,9 %: Kohleland holt per Solar auf.</a:t>
            </a:r>
          </a:p>
          <a:p>
            <a:pPr marL="228600" indent="-228600">
              <a:lnSpc>
                <a:spcPts val="1400"/>
              </a:lnSpc>
              <a:spcAft>
                <a:spcPts val="400"/>
              </a:spcAft>
              <a:buFont typeface="Arial"/>
              <a:buChar char="•"/>
            </a:pPr>
            <a:r>
              <a:rPr lang="de-DE" sz="1200" dirty="0">
                <a:solidFill>
                  <a:srgbClr val="E8EEF4"/>
                </a:solidFill>
                <a:latin typeface="Calibri"/>
              </a:rPr>
              <a:t>Merke: erneuerbar ≠ klimafreundlich – der Mix zählt.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5196E9B-C717-3FCC-DBC2-90D91B691D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52155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15B131A2-AE2D-6583-30F2-59B103B562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29005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674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00" y="203200"/>
            <a:ext cx="840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Energieträger-Mix: Deutschland (2025)</a:t>
            </a:r>
            <a:endParaRPr lang="de-DE" sz="2500" noProof="0" dirty="0"/>
          </a:p>
        </p:txBody>
      </p:sp>
      <p:pic>
        <p:nvPicPr>
          <p:cNvPr id="4" name="Image 0" descr="/home/claude/img/erzeugung_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8503920" cy="3008376"/>
          </a:xfrm>
          <a:prstGeom prst="rect">
            <a:avLst/>
          </a:prstGeom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11480" y="4206240"/>
            <a:ext cx="7874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</a:t>
            </a:r>
            <a:r>
              <a:rPr lang="de-DE" sz="980" noProof="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</a:t>
            </a: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(hellblau) ist die größte Einzelquelle – aber stark wetterabhängig: dicke Bänder im Herbst/Winter, dünn im Sommer.</a:t>
            </a:r>
            <a:endParaRPr lang="de-DE" sz="980" noProof="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Sommer übernimmt Solar (gelb) – im Winter füllen Braunkohle (Sockel) und Gas die Lücken. Genau das ist die Kernherausforderung der Energiewende: Die Erzeugung schwankt, der Verbrauch nicht.</a:t>
            </a:r>
            <a:endParaRPr lang="de-DE" sz="980" noProof="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Politische Konsequenz: Ohne Speicher, Netzausbau und flexible Kraftwerke bleibt Deutschland auf fossile Lückenfüller angewiesen.</a:t>
            </a:r>
            <a:endParaRPr lang="de-DE" sz="98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CFAAEF-DC3B-8BAD-9762-5103A88DA3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757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00" y="203200"/>
            <a:ext cx="840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Gegensätze: Frankreich &amp; Polen</a:t>
            </a:r>
            <a:endParaRPr lang="de-DE" sz="2500" noProof="0" dirty="0"/>
          </a:p>
        </p:txBody>
      </p:sp>
      <p:pic>
        <p:nvPicPr>
          <p:cNvPr id="4" name="Image 0" descr="/home/claude/img/erzeugung_f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78992"/>
            <a:ext cx="5486400" cy="1956816"/>
          </a:xfrm>
          <a:prstGeom prst="rect">
            <a:avLst/>
          </a:prstGeom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5" name="Image 1" descr="/home/claude/img/erzeugung_p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127248"/>
            <a:ext cx="5486400" cy="1947672"/>
          </a:xfrm>
          <a:prstGeom prst="rect">
            <a:avLst/>
          </a:prstGeom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994400" y="1078992"/>
            <a:ext cx="2425700" cy="3995928"/>
          </a:xfrm>
          <a:prstGeom prst="roundRect">
            <a:avLst>
              <a:gd name="adj" fmla="val 3226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3"/>
          <p:cNvSpPr/>
          <p:nvPr/>
        </p:nvSpPr>
        <p:spPr>
          <a:xfrm>
            <a:off x="6126480" y="1188720"/>
            <a:ext cx="226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Frankreich</a:t>
            </a:r>
            <a:endParaRPr lang="de-DE" sz="1150" noProof="0" dirty="0"/>
          </a:p>
        </p:txBody>
      </p:sp>
      <p:sp>
        <p:nvSpPr>
          <p:cNvPr id="8" name="Text 4"/>
          <p:cNvSpPr/>
          <p:nvPr/>
        </p:nvSpPr>
        <p:spPr>
          <a:xfrm>
            <a:off x="6108192" y="1481328"/>
            <a:ext cx="226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Kernkraft (</a:t>
            </a:r>
            <a:r>
              <a:rPr lang="de-DE" sz="920" noProof="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koralle</a:t>
            </a: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liefert konstant rund drei Viertel des Stroms – CO₂-arm und grundlastfähig.</a:t>
            </a:r>
            <a:endParaRPr lang="de-DE" sz="92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Kehrseite: unflexibel und wartungsanfällig – fallen Reaktoren aus, muss teuer importiert werden.</a:t>
            </a:r>
            <a:endParaRPr lang="de-DE" sz="920" noProof="0" dirty="0"/>
          </a:p>
        </p:txBody>
      </p:sp>
      <p:sp>
        <p:nvSpPr>
          <p:cNvPr id="9" name="Text 5"/>
          <p:cNvSpPr/>
          <p:nvPr/>
        </p:nvSpPr>
        <p:spPr>
          <a:xfrm>
            <a:off x="6126480" y="2971800"/>
            <a:ext cx="226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Polen</a:t>
            </a:r>
            <a:endParaRPr lang="de-DE" sz="1150" noProof="0" dirty="0"/>
          </a:p>
        </p:txBody>
      </p:sp>
      <p:sp>
        <p:nvSpPr>
          <p:cNvPr id="10" name="Text 6"/>
          <p:cNvSpPr/>
          <p:nvPr/>
        </p:nvSpPr>
        <p:spPr>
          <a:xfrm>
            <a:off x="6108192" y="3264408"/>
            <a:ext cx="2260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Stein- &amp; Braunkohle (dunkel/braun) liefern noch über die Hälfte – die höchste CO₂-Intensität im Vergleich.</a:t>
            </a:r>
            <a:endParaRPr lang="de-DE" sz="92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Aber: Solar (gelb) wächst im Sommer sichtbar – EU-CO₂-Preise machen Kohle zunehmend unwirtschaftlich.</a:t>
            </a:r>
            <a:endParaRPr lang="de-DE" sz="92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C9F3AD-DB10-8301-42FD-0F976EC8A5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067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00" y="203200"/>
            <a:ext cx="840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Süden: Spanien &amp; Italien</a:t>
            </a:r>
            <a:endParaRPr lang="de-DE" sz="2500" noProof="0" dirty="0"/>
          </a:p>
        </p:txBody>
      </p:sp>
      <p:pic>
        <p:nvPicPr>
          <p:cNvPr id="4" name="Image 0" descr="/home/claude/img/erzeugung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78992"/>
            <a:ext cx="5486400" cy="1929384"/>
          </a:xfrm>
          <a:prstGeom prst="rect">
            <a:avLst/>
          </a:prstGeom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5" name="Image 1" descr="/home/claude/img/erzeugung_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127248"/>
            <a:ext cx="5486400" cy="1911096"/>
          </a:xfrm>
          <a:prstGeom prst="rect">
            <a:avLst/>
          </a:prstGeom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994400" y="1078992"/>
            <a:ext cx="2425700" cy="3995928"/>
          </a:xfrm>
          <a:prstGeom prst="roundRect">
            <a:avLst>
              <a:gd name="adj" fmla="val 3226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3"/>
          <p:cNvSpPr/>
          <p:nvPr/>
        </p:nvSpPr>
        <p:spPr>
          <a:xfrm>
            <a:off x="6126480" y="1188720"/>
            <a:ext cx="226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Spanien</a:t>
            </a:r>
            <a:endParaRPr lang="de-DE" sz="1150" noProof="0" dirty="0"/>
          </a:p>
        </p:txBody>
      </p:sp>
      <p:sp>
        <p:nvSpPr>
          <p:cNvPr id="8" name="Text 4"/>
          <p:cNvSpPr/>
          <p:nvPr/>
        </p:nvSpPr>
        <p:spPr>
          <a:xfrm>
            <a:off x="6108192" y="1481328"/>
            <a:ext cx="226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Europas Solar-Boom-Land: Im Sommer ist Photovoltaik (gelb) der größte Einzelposten.</a:t>
            </a:r>
            <a:endParaRPr lang="de-DE" sz="92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Kernkraft als stabile Basis, dazu viel Wind – Gas nur noch als flexibler Ausgleich.</a:t>
            </a:r>
            <a:endParaRPr lang="de-DE" sz="920" noProof="0" dirty="0"/>
          </a:p>
        </p:txBody>
      </p:sp>
      <p:sp>
        <p:nvSpPr>
          <p:cNvPr id="9" name="Text 5"/>
          <p:cNvSpPr/>
          <p:nvPr/>
        </p:nvSpPr>
        <p:spPr>
          <a:xfrm>
            <a:off x="6126480" y="2971800"/>
            <a:ext cx="226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Italien</a:t>
            </a:r>
            <a:endParaRPr lang="de-DE" sz="1150" noProof="0" dirty="0"/>
          </a:p>
        </p:txBody>
      </p:sp>
      <p:sp>
        <p:nvSpPr>
          <p:cNvPr id="10" name="Text 6"/>
          <p:cNvSpPr/>
          <p:nvPr/>
        </p:nvSpPr>
        <p:spPr>
          <a:xfrm>
            <a:off x="6108192" y="3264408"/>
            <a:ext cx="2260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Fossiles Gas (orange) dominiert klar – Folge: hohe Importabhängigkeit und mit die höchsten Strompreise Europas.</a:t>
            </a:r>
            <a:endParaRPr lang="de-DE" sz="92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wächst im Sommer kräftig, Wasserkraft aus den Alpen hilft – der Umbau läuft, aber langsamer als in Spanien.</a:t>
            </a:r>
            <a:endParaRPr lang="de-DE" sz="92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82A1E-1261-AE5C-8A15-314FC6F1E6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84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00" y="203200"/>
            <a:ext cx="840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Wasserkraft-Länder: Norwegen &amp; Kroatien</a:t>
            </a:r>
            <a:endParaRPr lang="de-DE" sz="2500" noProof="0" dirty="0"/>
          </a:p>
        </p:txBody>
      </p:sp>
      <p:pic>
        <p:nvPicPr>
          <p:cNvPr id="4" name="Image 0" descr="/home/claude/img/erzeugung_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78992"/>
            <a:ext cx="5486400" cy="1956816"/>
          </a:xfrm>
          <a:prstGeom prst="rect">
            <a:avLst/>
          </a:prstGeom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5" name="Image 1" descr="/home/claude/img/erzeugung_h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127248"/>
            <a:ext cx="5486400" cy="1956816"/>
          </a:xfrm>
          <a:prstGeom prst="rect">
            <a:avLst/>
          </a:prstGeom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994400" y="1078992"/>
            <a:ext cx="2425700" cy="3995928"/>
          </a:xfrm>
          <a:prstGeom prst="roundRect">
            <a:avLst>
              <a:gd name="adj" fmla="val 3226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3"/>
          <p:cNvSpPr/>
          <p:nvPr/>
        </p:nvSpPr>
        <p:spPr>
          <a:xfrm>
            <a:off x="6126480" y="1188720"/>
            <a:ext cx="226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Norwegen</a:t>
            </a:r>
            <a:endParaRPr lang="de-DE" sz="1150" noProof="0" dirty="0"/>
          </a:p>
        </p:txBody>
      </p:sp>
      <p:sp>
        <p:nvSpPr>
          <p:cNvPr id="8" name="Text 4"/>
          <p:cNvSpPr/>
          <p:nvPr/>
        </p:nvSpPr>
        <p:spPr>
          <a:xfrm>
            <a:off x="6108192" y="1481328"/>
            <a:ext cx="226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Speicherseen (dunkelblau) liefern rund 90 % – im Winter wird mehr „abgelassen“, das ist saisonale Bewirtschaftung.</a:t>
            </a:r>
            <a:endParaRPr lang="de-DE" sz="92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Wasserkraft ist regelbar wie eine Batterie – Norwegen exportiert Flexibilität nach ganz Europa.</a:t>
            </a:r>
            <a:endParaRPr lang="de-DE" sz="920" noProof="0" dirty="0"/>
          </a:p>
        </p:txBody>
      </p:sp>
      <p:sp>
        <p:nvSpPr>
          <p:cNvPr id="9" name="Text 5"/>
          <p:cNvSpPr/>
          <p:nvPr/>
        </p:nvSpPr>
        <p:spPr>
          <a:xfrm>
            <a:off x="6126480" y="2971800"/>
            <a:ext cx="226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15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Kroatien</a:t>
            </a:r>
            <a:endParaRPr lang="de-DE" sz="1150" noProof="0" dirty="0"/>
          </a:p>
        </p:txBody>
      </p:sp>
      <p:sp>
        <p:nvSpPr>
          <p:cNvPr id="10" name="Text 6"/>
          <p:cNvSpPr/>
          <p:nvPr/>
        </p:nvSpPr>
        <p:spPr>
          <a:xfrm>
            <a:off x="6108192" y="3264408"/>
            <a:ext cx="2260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aus Wasserkraft, Gas und wachsender Windkraft – mit 72 % erneuerbar überraschend weit vorn.</a:t>
            </a:r>
            <a:endParaRPr lang="de-DE" sz="92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de-DE" sz="92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Kleines System, stark vom Niederschlag abhängig: Trockene Monate (Mai/Jun) sind im Diagramm sofort sichtbar.</a:t>
            </a:r>
            <a:endParaRPr lang="de-DE" sz="92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6D77D6-4FEA-3C33-A4E8-B097E7290C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827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1A45D-9025-9C37-777E-3B614D55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64B0F0-7BF5-7462-119A-00708AD3C290}"/>
              </a:ext>
            </a:extLst>
          </p:cNvPr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dirty="0">
                <a:solidFill>
                  <a:srgbClr val="FFFFFF"/>
                </a:solidFill>
                <a:latin typeface="Calibri" pitchFamily="34" charset="0"/>
              </a:rPr>
              <a:t>Claude Code </a:t>
            </a:r>
            <a:r>
              <a:rPr lang="de-DE" sz="2500" b="1" dirty="0">
                <a:solidFill>
                  <a:srgbClr val="A4D11E"/>
                </a:solidFill>
                <a:latin typeface="Calibri" pitchFamily="34" charset="0"/>
              </a:rPr>
              <a:t>vs. </a:t>
            </a:r>
            <a:r>
              <a:rPr lang="de-DE" sz="2500" b="1" dirty="0">
                <a:solidFill>
                  <a:srgbClr val="FFFFFF"/>
                </a:solidFill>
                <a:latin typeface="Calibri" pitchFamily="34" charset="0"/>
              </a:rPr>
              <a:t>ChatGPT Codex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8541A1-7678-63D4-7E1B-9367B496F99F}"/>
              </a:ext>
            </a:extLst>
          </p:cNvPr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50" i="1" dirty="0">
                <a:solidFill>
                  <a:srgbClr val="A4D11E"/>
                </a:solidFill>
                <a:latin typeface="Calibri" pitchFamily="34" charset="0"/>
              </a:rPr>
              <a:t>Zwei KI-Coding-Agenten aus der Praxis im Vergleich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9B6D252-9227-30C2-1701-93AF012696F9}"/>
              </a:ext>
            </a:extLst>
          </p:cNvPr>
          <p:cNvSpPr/>
          <p:nvPr/>
        </p:nvSpPr>
        <p:spPr>
          <a:xfrm>
            <a:off x="317500" y="1193800"/>
            <a:ext cx="4064000" cy="3454400"/>
          </a:xfrm>
          <a:prstGeom prst="roundRect">
            <a:avLst>
              <a:gd name="adj" fmla="val 4000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9EC5E69-ABC4-5938-8914-164C1F955E83}"/>
              </a:ext>
            </a:extLst>
          </p:cNvPr>
          <p:cNvSpPr/>
          <p:nvPr/>
        </p:nvSpPr>
        <p:spPr>
          <a:xfrm>
            <a:off x="317500" y="21082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dirty="0">
                <a:solidFill>
                  <a:srgbClr val="FFFFFF"/>
                </a:solidFill>
                <a:latin typeface="Calibri" pitchFamily="34" charset="0"/>
              </a:rPr>
              <a:t>Claude Code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1812277-025A-A71E-81DD-9D54856863DA}"/>
              </a:ext>
            </a:extLst>
          </p:cNvPr>
          <p:cNvSpPr/>
          <p:nvPr/>
        </p:nvSpPr>
        <p:spPr>
          <a:xfrm>
            <a:off x="558800" y="2540000"/>
            <a:ext cx="3606800" cy="2006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de-DE" sz="1200" b="1" dirty="0">
                <a:solidFill>
                  <a:srgbClr val="A4D11E"/>
                </a:solidFill>
                <a:latin typeface="Calibri" pitchFamily="34" charset="0"/>
              </a:rPr>
              <a:t>Vorteile</a:t>
            </a:r>
          </a:p>
          <a:p>
            <a:pPr marL="171450" indent="-171450" algn="l">
              <a:lnSpc>
                <a:spcPts val="1350"/>
              </a:lnSpc>
              <a:buFont typeface="Arial"/>
              <a:buChar char="•"/>
            </a:pPr>
            <a:r>
              <a:rPr lang="de-DE" sz="1100" dirty="0">
                <a:solidFill>
                  <a:srgbClr val="FFFFFF"/>
                </a:solidFill>
                <a:latin typeface="Calibri" pitchFamily="34" charset="0"/>
              </a:rPr>
              <a:t>Versteht große Codebasen im Kontext</a:t>
            </a:r>
          </a:p>
          <a:p>
            <a:pPr marL="171450" indent="-171450" algn="l">
              <a:lnSpc>
                <a:spcPts val="1350"/>
              </a:lnSpc>
              <a:buFont typeface="Arial"/>
              <a:buChar char="•"/>
            </a:pPr>
            <a:r>
              <a:rPr lang="de-DE" sz="1100" dirty="0">
                <a:solidFill>
                  <a:srgbClr val="FFFFFF"/>
                </a:solidFill>
                <a:latin typeface="Calibri" pitchFamily="34" charset="0"/>
              </a:rPr>
              <a:t>Präzise, gut erklärte Änderungen</a:t>
            </a:r>
          </a:p>
          <a:p>
            <a:pPr marL="171450" indent="-171450" algn="l">
              <a:lnSpc>
                <a:spcPts val="1350"/>
              </a:lnSpc>
              <a:buFont typeface="Arial"/>
              <a:buChar char="•"/>
            </a:pPr>
            <a:r>
              <a:rPr lang="de-DE" sz="1100" dirty="0">
                <a:solidFill>
                  <a:srgbClr val="FFFFFF"/>
                </a:solidFill>
                <a:latin typeface="Calibri" pitchFamily="34" charset="0"/>
              </a:rPr>
              <a:t>Stark bei komplexen Refactorings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Nachteile</a:t>
            </a:r>
          </a:p>
          <a:p>
            <a:pPr marL="171450" indent="-171450" algn="l">
              <a:lnSpc>
                <a:spcPts val="1350"/>
              </a:lnSpc>
              <a:buFont typeface="Arial"/>
              <a:buChar char="•"/>
            </a:pPr>
            <a:r>
              <a:rPr lang="de-DE" sz="1100" dirty="0">
                <a:solidFill>
                  <a:srgbClr val="FFFFFF"/>
                </a:solidFill>
                <a:latin typeface="Calibri" pitchFamily="34" charset="0"/>
              </a:rPr>
              <a:t>Nutzungslimits bremsen mitunter</a:t>
            </a:r>
          </a:p>
          <a:p>
            <a:pPr marL="171450" indent="-171450" algn="l">
              <a:lnSpc>
                <a:spcPts val="1350"/>
              </a:lnSpc>
              <a:buFont typeface="Arial"/>
              <a:buChar char="•"/>
            </a:pPr>
            <a:r>
              <a:rPr lang="de-DE" sz="1100" dirty="0">
                <a:solidFill>
                  <a:srgbClr val="FFFFFF"/>
                </a:solidFill>
                <a:latin typeface="Calibri" pitchFamily="34" charset="0"/>
              </a:rPr>
              <a:t>Langsamer bei Großaufgaben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C40FEEA-74FA-4DCC-CF74-FF2BE351FA79}"/>
              </a:ext>
            </a:extLst>
          </p:cNvPr>
          <p:cNvSpPr/>
          <p:nvPr/>
        </p:nvSpPr>
        <p:spPr>
          <a:xfrm>
            <a:off x="4762500" y="1193800"/>
            <a:ext cx="4064000" cy="3454400"/>
          </a:xfrm>
          <a:prstGeom prst="roundRect">
            <a:avLst>
              <a:gd name="adj" fmla="val 4000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6CD6E3A-8ACB-4CBB-0D9C-590C82564CF5}"/>
              </a:ext>
            </a:extLst>
          </p:cNvPr>
          <p:cNvSpPr/>
          <p:nvPr/>
        </p:nvSpPr>
        <p:spPr>
          <a:xfrm>
            <a:off x="4762500" y="21082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dirty="0">
                <a:solidFill>
                  <a:srgbClr val="FFFFFF"/>
                </a:solidFill>
                <a:latin typeface="Calibri" pitchFamily="34" charset="0"/>
              </a:rPr>
              <a:t>ChatGPT Codex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9BB2F3A-51E6-6CF6-FB57-FAC998541C98}"/>
              </a:ext>
            </a:extLst>
          </p:cNvPr>
          <p:cNvSpPr/>
          <p:nvPr/>
        </p:nvSpPr>
        <p:spPr>
          <a:xfrm>
            <a:off x="5003800" y="2540000"/>
            <a:ext cx="3606800" cy="2006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de-DE" sz="1200" b="1" dirty="0">
                <a:solidFill>
                  <a:srgbClr val="A4D11E"/>
                </a:solidFill>
                <a:latin typeface="Calibri" pitchFamily="34" charset="0"/>
              </a:rPr>
              <a:t>Vorteile</a:t>
            </a:r>
          </a:p>
          <a:p>
            <a:pPr marL="171450" indent="-171450" algn="l">
              <a:lnSpc>
                <a:spcPts val="1350"/>
              </a:lnSpc>
              <a:buFont typeface="Arial"/>
              <a:buChar char="•"/>
            </a:pPr>
            <a:r>
              <a:rPr lang="de-DE" sz="1100" dirty="0">
                <a:solidFill>
                  <a:srgbClr val="FFFFFF"/>
                </a:solidFill>
                <a:latin typeface="Calibri" pitchFamily="34" charset="0"/>
              </a:rPr>
              <a:t>Schnelle Iteration, viele Sprachen</a:t>
            </a:r>
          </a:p>
          <a:p>
            <a:pPr marL="171450" indent="-171450" algn="l">
              <a:lnSpc>
                <a:spcPts val="1350"/>
              </a:lnSpc>
              <a:buFont typeface="Arial"/>
              <a:buChar char="•"/>
            </a:pPr>
            <a:r>
              <a:rPr lang="de-DE" sz="1100" dirty="0">
                <a:solidFill>
                  <a:srgbClr val="FFFFFF"/>
                </a:solidFill>
                <a:latin typeface="Calibri" pitchFamily="34" charset="0"/>
              </a:rPr>
              <a:t>Nahtlos im OpenAI-Workflow</a:t>
            </a:r>
          </a:p>
          <a:p>
            <a:pPr marL="171450" indent="-171450" algn="l">
              <a:lnSpc>
                <a:spcPts val="1350"/>
              </a:lnSpc>
              <a:buFont typeface="Arial"/>
              <a:buChar char="•"/>
            </a:pPr>
            <a:r>
              <a:rPr lang="de-DE" sz="1100" dirty="0">
                <a:solidFill>
                  <a:srgbClr val="FFFFFF"/>
                </a:solidFill>
                <a:latin typeface="Calibri" pitchFamily="34" charset="0"/>
              </a:rPr>
              <a:t>Stark bei klar umrissenen Tasks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Nachteile</a:t>
            </a:r>
          </a:p>
          <a:p>
            <a:pPr marL="171450" indent="-171450" algn="l">
              <a:lnSpc>
                <a:spcPts val="1350"/>
              </a:lnSpc>
              <a:buFont typeface="Arial"/>
              <a:buChar char="•"/>
            </a:pPr>
            <a:r>
              <a:rPr lang="de-DE" sz="1100" dirty="0">
                <a:solidFill>
                  <a:srgbClr val="FFFFFF"/>
                </a:solidFill>
                <a:latin typeface="Calibri" pitchFamily="34" charset="0"/>
              </a:rPr>
              <a:t>Schwächer bei sehr großem Kontext</a:t>
            </a:r>
          </a:p>
          <a:p>
            <a:pPr marL="171450" indent="-171450" algn="l">
              <a:lnSpc>
                <a:spcPts val="1350"/>
              </a:lnSpc>
              <a:buFont typeface="Arial"/>
              <a:buChar char="•"/>
            </a:pPr>
            <a:r>
              <a:rPr lang="de-DE" sz="1100" dirty="0">
                <a:solidFill>
                  <a:srgbClr val="FFFFFF"/>
                </a:solidFill>
                <a:latin typeface="Calibri" pitchFamily="34" charset="0"/>
              </a:rPr>
              <a:t>Erklärungen teils oberflächlicher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B6C6861-90CF-7E68-A8E3-46F2EB83E5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phic 12" descr="Claude Code AI agen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4700" y="1397000"/>
            <a:ext cx="584200" cy="584200"/>
          </a:xfrm>
          <a:prstGeom prst="rect">
            <a:avLst/>
          </a:prstGeom>
        </p:spPr>
      </p:pic>
      <p:pic>
        <p:nvPicPr>
          <p:cNvPr id="13" name="Graphic 13" descr="ChatGPT Codex termina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9700" y="1397000"/>
            <a:ext cx="584200" cy="5842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1E3576B-ED2C-C445-4214-297CDD07E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428" y="1316572"/>
            <a:ext cx="1376744" cy="79162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67DFC9B3-8D71-24CA-B0B7-FFC51A340B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3828" y="1288518"/>
            <a:ext cx="1376744" cy="79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79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895649"/>
            <a:ext cx="3508287" cy="993191"/>
          </a:xfrm>
          <a:prstGeom prst="roundRect">
            <a:avLst>
              <a:gd name="adj" fmla="val 9184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5" name="Text 3"/>
          <p:cNvSpPr/>
          <p:nvPr/>
        </p:nvSpPr>
        <p:spPr>
          <a:xfrm>
            <a:off x="466344" y="959657"/>
            <a:ext cx="3276971" cy="28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de-DE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66344" y="1206545"/>
            <a:ext cx="3276971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Programmiersprache. Leicht lesbar und der weltweite Standard für Datenanalyse.</a:t>
            </a:r>
            <a:endParaRPr lang="de-DE" sz="930" noProof="0" dirty="0"/>
          </a:p>
        </p:txBody>
      </p:sp>
      <p:sp>
        <p:nvSpPr>
          <p:cNvPr id="7" name="Shape 5"/>
          <p:cNvSpPr/>
          <p:nvPr/>
        </p:nvSpPr>
        <p:spPr>
          <a:xfrm>
            <a:off x="4663440" y="895649"/>
            <a:ext cx="3508287" cy="993191"/>
          </a:xfrm>
          <a:prstGeom prst="roundRect">
            <a:avLst>
              <a:gd name="adj" fmla="val 9184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6"/>
          <p:cNvSpPr/>
          <p:nvPr/>
        </p:nvSpPr>
        <p:spPr>
          <a:xfrm>
            <a:off x="4809744" y="959657"/>
            <a:ext cx="3276971" cy="28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r>
              <a:rPr lang="de-DE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Notebook (in VS Code)</a:t>
            </a:r>
            <a:endParaRPr lang="de-DE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4809744" y="1206545"/>
            <a:ext cx="3276971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digitales Laborbuch: Code, Ergebnis und </a:t>
            </a:r>
            <a:r>
              <a:rPr lang="de-DE" sz="93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Erklärtext</a:t>
            </a: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stehen zusammen in einer Datei – Zelle für Zelle ausführbar.</a:t>
            </a:r>
            <a:endParaRPr lang="de-DE" sz="930" noProof="0" dirty="0"/>
          </a:p>
        </p:txBody>
      </p:sp>
      <p:sp>
        <p:nvSpPr>
          <p:cNvPr id="10" name="Shape 8"/>
          <p:cNvSpPr/>
          <p:nvPr/>
        </p:nvSpPr>
        <p:spPr>
          <a:xfrm>
            <a:off x="320040" y="1864913"/>
            <a:ext cx="3508287" cy="993191"/>
          </a:xfrm>
          <a:prstGeom prst="roundRect">
            <a:avLst>
              <a:gd name="adj" fmla="val 9184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Text 9"/>
          <p:cNvSpPr/>
          <p:nvPr/>
        </p:nvSpPr>
        <p:spPr>
          <a:xfrm>
            <a:off x="466344" y="1928921"/>
            <a:ext cx="3276971" cy="28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entsoe-py</a:t>
            </a:r>
            <a:endParaRPr lang="de-DE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466344" y="2175809"/>
            <a:ext cx="3276971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Fertiger Übersetzer zur ENTSO-E API: Eine Zeile Code genügt, und die Stromdaten kommen direkt als Tabelle zurück.</a:t>
            </a:r>
            <a:endParaRPr lang="de-DE" sz="930" noProof="0" dirty="0"/>
          </a:p>
        </p:txBody>
      </p:sp>
      <p:sp>
        <p:nvSpPr>
          <p:cNvPr id="13" name="Shape 11"/>
          <p:cNvSpPr/>
          <p:nvPr/>
        </p:nvSpPr>
        <p:spPr>
          <a:xfrm>
            <a:off x="4663440" y="1864913"/>
            <a:ext cx="3508287" cy="993191"/>
          </a:xfrm>
          <a:prstGeom prst="roundRect">
            <a:avLst>
              <a:gd name="adj" fmla="val 9184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Text 12"/>
          <p:cNvSpPr/>
          <p:nvPr/>
        </p:nvSpPr>
        <p:spPr>
          <a:xfrm>
            <a:off x="4809744" y="1928921"/>
            <a:ext cx="3276971" cy="28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de-DE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4809744" y="2175809"/>
            <a:ext cx="3276971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„Excel von Python“: filtert, gruppiert und fasst Millionen Messwerte zu Monats- und Jahreswerten zusammen (</a:t>
            </a:r>
            <a:r>
              <a:rPr lang="de-DE" sz="93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</a:t>
            </a: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de-DE" sz="93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de-DE" sz="930" noProof="0" dirty="0"/>
          </a:p>
        </p:txBody>
      </p:sp>
      <p:sp>
        <p:nvSpPr>
          <p:cNvPr id="16" name="Shape 14"/>
          <p:cNvSpPr/>
          <p:nvPr/>
        </p:nvSpPr>
        <p:spPr>
          <a:xfrm>
            <a:off x="320040" y="2834177"/>
            <a:ext cx="3508287" cy="993191"/>
          </a:xfrm>
          <a:prstGeom prst="roundRect">
            <a:avLst>
              <a:gd name="adj" fmla="val 9184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17" name="Text 15"/>
          <p:cNvSpPr/>
          <p:nvPr/>
        </p:nvSpPr>
        <p:spPr>
          <a:xfrm>
            <a:off x="466344" y="2898185"/>
            <a:ext cx="3276971" cy="28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de-DE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de-DE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r>
              <a:rPr lang="de-DE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de-DE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matplotx</a:t>
            </a:r>
            <a:endParaRPr lang="de-DE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466344" y="3145073"/>
            <a:ext cx="3276971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Zeichenwerkzeuge für Linien-, Balken- und </a:t>
            </a:r>
            <a:r>
              <a:rPr lang="de-DE" sz="93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-Diagramme. </a:t>
            </a:r>
            <a:r>
              <a:rPr lang="de-DE" sz="93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matplotx</a:t>
            </a: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exportiert jedes Diagramm automatisch zusätzlich im Dunkel-Design.</a:t>
            </a:r>
            <a:endParaRPr lang="de-DE" sz="930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177"/>
            <a:ext cx="3508287" cy="993191"/>
          </a:xfrm>
          <a:prstGeom prst="roundRect">
            <a:avLst>
              <a:gd name="adj" fmla="val 9184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Text 18"/>
          <p:cNvSpPr/>
          <p:nvPr/>
        </p:nvSpPr>
        <p:spPr>
          <a:xfrm>
            <a:off x="4809744" y="2898185"/>
            <a:ext cx="3276971" cy="28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de-DE" sz="1200" noProof="0" dirty="0"/>
          </a:p>
        </p:txBody>
      </p:sp>
      <p:sp>
        <p:nvSpPr>
          <p:cNvPr id="21" name="Text 19"/>
          <p:cNvSpPr/>
          <p:nvPr/>
        </p:nvSpPr>
        <p:spPr>
          <a:xfrm>
            <a:off x="4809744" y="3145073"/>
            <a:ext cx="3276971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Tresor: Lädt den geheimen API-Schlüssel aus einer lokalen .</a:t>
            </a:r>
            <a:r>
              <a:rPr lang="de-DE" sz="93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-Datei – so landet er nie auf GitHub.</a:t>
            </a:r>
            <a:endParaRPr lang="de-DE" sz="930" noProof="0" dirty="0"/>
          </a:p>
        </p:txBody>
      </p:sp>
      <p:sp>
        <p:nvSpPr>
          <p:cNvPr id="22" name="Shape 20"/>
          <p:cNvSpPr/>
          <p:nvPr/>
        </p:nvSpPr>
        <p:spPr>
          <a:xfrm>
            <a:off x="320040" y="3803441"/>
            <a:ext cx="3508287" cy="993191"/>
          </a:xfrm>
          <a:prstGeom prst="roundRect">
            <a:avLst>
              <a:gd name="adj" fmla="val 9184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23" name="Text 21"/>
          <p:cNvSpPr/>
          <p:nvPr/>
        </p:nvSpPr>
        <p:spPr>
          <a:xfrm>
            <a:off x="466344" y="3867449"/>
            <a:ext cx="3276971" cy="28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concurrent.futures</a:t>
            </a:r>
            <a:endParaRPr lang="de-DE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466344" y="4114337"/>
            <a:ext cx="3276971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Turbo: lädt bis zu 5 API-Abfragen gleichzeitig statt nacheinander – der erste Durchlauf wird 4–5× schneller.</a:t>
            </a:r>
            <a:endParaRPr lang="de-DE" sz="930" noProof="0" dirty="0"/>
          </a:p>
        </p:txBody>
      </p:sp>
      <p:sp>
        <p:nvSpPr>
          <p:cNvPr id="25" name="Shape 23"/>
          <p:cNvSpPr/>
          <p:nvPr/>
        </p:nvSpPr>
        <p:spPr>
          <a:xfrm>
            <a:off x="4663440" y="3803441"/>
            <a:ext cx="3508287" cy="993191"/>
          </a:xfrm>
          <a:prstGeom prst="roundRect">
            <a:avLst>
              <a:gd name="adj" fmla="val 9184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26" name="Text 24"/>
          <p:cNvSpPr/>
          <p:nvPr/>
        </p:nvSpPr>
        <p:spPr>
          <a:xfrm>
            <a:off x="4809744" y="3867449"/>
            <a:ext cx="3276971" cy="28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de-DE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GitHub</a:t>
            </a:r>
            <a:endParaRPr lang="de-DE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4809744" y="4114337"/>
            <a:ext cx="3276971" cy="608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93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Teamarbeit: Jeder arbeitet im eigenen Fork, Beiträge kommen per Pull Request ins Haupt-Repository – jede Änderung bleibt nachvollziehbar.</a:t>
            </a:r>
            <a:endParaRPr lang="de-DE" sz="93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0329A7-4BBA-BA90-BD43-E3F9D31827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559E21AE-4F67-80AA-7EA6-C2D632B4A750}"/>
              </a:ext>
            </a:extLst>
          </p:cNvPr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Entwicklungssicht – Womit haben wir gearbeitet?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72586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Codesicht – Wie funktioniert das Notebook?</a:t>
            </a:r>
            <a:endParaRPr lang="de-DE" sz="25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50" i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 der Daten in 6 Schritten – von der API bis zum fertigen Diagramm</a:t>
            </a:r>
            <a:endParaRPr lang="de-DE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279171" cy="1458669"/>
          </a:xfrm>
          <a:prstGeom prst="roundRect">
            <a:avLst>
              <a:gd name="adj" fmla="val 5208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466344" y="1271016"/>
            <a:ext cx="319084" cy="319084"/>
          </a:xfrm>
          <a:prstGeom prst="ellipse">
            <a:avLst/>
          </a:prstGeom>
          <a:solidFill>
            <a:srgbClr val="A4D11E"/>
          </a:solidFill>
          <a:ln w="12700">
            <a:solidFill>
              <a:srgbClr val="A4D11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6" name="Text 4"/>
          <p:cNvSpPr/>
          <p:nvPr/>
        </p:nvSpPr>
        <p:spPr>
          <a:xfrm>
            <a:off x="466344" y="1271016"/>
            <a:ext cx="319084" cy="31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de-DE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941832" y="1307592"/>
            <a:ext cx="1671389" cy="26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Vorbereitung</a:t>
            </a:r>
            <a:endParaRPr lang="de-DE" sz="1350" noProof="0" dirty="0"/>
          </a:p>
        </p:txBody>
      </p:sp>
      <p:sp>
        <p:nvSpPr>
          <p:cNvPr id="8" name="Text 6"/>
          <p:cNvSpPr/>
          <p:nvPr/>
        </p:nvSpPr>
        <p:spPr>
          <a:xfrm>
            <a:off x="466345" y="1746504"/>
            <a:ext cx="2036060" cy="9116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00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Bibliotheken importieren, API-Schlüssel sicher aus der .</a:t>
            </a:r>
            <a:r>
              <a:rPr lang="de-DE" sz="100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r>
              <a:rPr lang="de-DE" sz="100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-Datei laden, Länder und einheitliche Farben festlegen.</a:t>
            </a:r>
            <a:endParaRPr lang="de-DE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3239321" y="1138858"/>
            <a:ext cx="2279171" cy="1458669"/>
          </a:xfrm>
          <a:prstGeom prst="roundRect">
            <a:avLst>
              <a:gd name="adj" fmla="val 5208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Shape 8"/>
          <p:cNvSpPr/>
          <p:nvPr/>
        </p:nvSpPr>
        <p:spPr>
          <a:xfrm>
            <a:off x="3374136" y="1271016"/>
            <a:ext cx="319084" cy="319084"/>
          </a:xfrm>
          <a:prstGeom prst="ellipse">
            <a:avLst/>
          </a:prstGeom>
          <a:solidFill>
            <a:srgbClr val="A4D11E"/>
          </a:solidFill>
          <a:ln w="12700">
            <a:solidFill>
              <a:srgbClr val="A4D11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Text 9"/>
          <p:cNvSpPr/>
          <p:nvPr/>
        </p:nvSpPr>
        <p:spPr>
          <a:xfrm>
            <a:off x="3374136" y="1271016"/>
            <a:ext cx="319084" cy="31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de-DE" sz="1500" noProof="0" dirty="0"/>
          </a:p>
        </p:txBody>
      </p:sp>
      <p:sp>
        <p:nvSpPr>
          <p:cNvPr id="12" name="Text 10"/>
          <p:cNvSpPr/>
          <p:nvPr/>
        </p:nvSpPr>
        <p:spPr>
          <a:xfrm>
            <a:off x="3849624" y="1307592"/>
            <a:ext cx="1671389" cy="26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Daten-Cache</a:t>
            </a:r>
            <a:endParaRPr lang="de-DE" sz="1350" noProof="0" dirty="0"/>
          </a:p>
        </p:txBody>
      </p:sp>
      <p:sp>
        <p:nvSpPr>
          <p:cNvPr id="13" name="Text 11"/>
          <p:cNvSpPr/>
          <p:nvPr/>
        </p:nvSpPr>
        <p:spPr>
          <a:xfrm>
            <a:off x="3374137" y="1746504"/>
            <a:ext cx="2036060" cy="9116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00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API-Antwort wird als Datei auf der Festplatte gespeichert. Ab dem 2. Durchlauf: Sekunden statt Minuten Wartezeit.</a:t>
            </a:r>
            <a:endParaRPr lang="de-DE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6135624" y="1143000"/>
            <a:ext cx="2279171" cy="1458669"/>
          </a:xfrm>
          <a:prstGeom prst="roundRect">
            <a:avLst>
              <a:gd name="adj" fmla="val 5208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15" name="Shape 13"/>
          <p:cNvSpPr/>
          <p:nvPr/>
        </p:nvSpPr>
        <p:spPr>
          <a:xfrm>
            <a:off x="6281928" y="1271016"/>
            <a:ext cx="319084" cy="319084"/>
          </a:xfrm>
          <a:prstGeom prst="ellipse">
            <a:avLst/>
          </a:prstGeom>
          <a:solidFill>
            <a:srgbClr val="A4D11E"/>
          </a:solidFill>
          <a:ln w="12700">
            <a:solidFill>
              <a:srgbClr val="A4D11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6" name="Text 14"/>
          <p:cNvSpPr/>
          <p:nvPr/>
        </p:nvSpPr>
        <p:spPr>
          <a:xfrm>
            <a:off x="6281928" y="1271016"/>
            <a:ext cx="319084" cy="31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de-DE" sz="1500" noProof="0" dirty="0"/>
          </a:p>
        </p:txBody>
      </p:sp>
      <p:sp>
        <p:nvSpPr>
          <p:cNvPr id="17" name="Text 15"/>
          <p:cNvSpPr/>
          <p:nvPr/>
        </p:nvSpPr>
        <p:spPr>
          <a:xfrm>
            <a:off x="6757416" y="1307592"/>
            <a:ext cx="1671389" cy="26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Turbo-Vorladen</a:t>
            </a:r>
            <a:endParaRPr lang="de-DE" sz="1350" noProof="0" dirty="0"/>
          </a:p>
        </p:txBody>
      </p:sp>
      <p:sp>
        <p:nvSpPr>
          <p:cNvPr id="18" name="Text 16"/>
          <p:cNvSpPr/>
          <p:nvPr/>
        </p:nvSpPr>
        <p:spPr>
          <a:xfrm>
            <a:off x="6281929" y="1746504"/>
            <a:ext cx="2036060" cy="9116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00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63 benötigten Abfragen werden parallel geladen (5 gleichzeitig) – die reine Wartezeit auf die API sinkt drastisch.</a:t>
            </a:r>
            <a:endParaRPr lang="de-DE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320040" y="3026664"/>
            <a:ext cx="2279171" cy="1458669"/>
          </a:xfrm>
          <a:prstGeom prst="roundRect">
            <a:avLst>
              <a:gd name="adj" fmla="val 5208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Shape 18"/>
          <p:cNvSpPr/>
          <p:nvPr/>
        </p:nvSpPr>
        <p:spPr>
          <a:xfrm>
            <a:off x="466344" y="3154680"/>
            <a:ext cx="319084" cy="319084"/>
          </a:xfrm>
          <a:prstGeom prst="ellipse">
            <a:avLst/>
          </a:prstGeom>
          <a:solidFill>
            <a:srgbClr val="A4D11E"/>
          </a:solidFill>
          <a:ln w="12700">
            <a:solidFill>
              <a:srgbClr val="A4D11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1" name="Text 19"/>
          <p:cNvSpPr/>
          <p:nvPr/>
        </p:nvSpPr>
        <p:spPr>
          <a:xfrm>
            <a:off x="466344" y="3154680"/>
            <a:ext cx="319084" cy="31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de-DE" sz="1500" noProof="0" dirty="0"/>
          </a:p>
        </p:txBody>
      </p:sp>
      <p:sp>
        <p:nvSpPr>
          <p:cNvPr id="22" name="Text 20"/>
          <p:cNvSpPr/>
          <p:nvPr/>
        </p:nvSpPr>
        <p:spPr>
          <a:xfrm>
            <a:off x="941832" y="3191256"/>
            <a:ext cx="1671389" cy="26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Bereinigen</a:t>
            </a:r>
            <a:endParaRPr lang="de-DE" sz="1350" noProof="0" dirty="0"/>
          </a:p>
        </p:txBody>
      </p:sp>
      <p:sp>
        <p:nvSpPr>
          <p:cNvPr id="23" name="Text 21"/>
          <p:cNvSpPr/>
          <p:nvPr/>
        </p:nvSpPr>
        <p:spPr>
          <a:xfrm>
            <a:off x="466345" y="3630168"/>
            <a:ext cx="2036060" cy="9116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00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Zeitstempel auf UTC vereinheitlichen, Verbrauchs- und Speicherspalten entfernen, doppelte Spalten zusammenfassen.</a:t>
            </a:r>
            <a:endParaRPr lang="de-DE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3227832" y="3026664"/>
            <a:ext cx="2279171" cy="1458669"/>
          </a:xfrm>
          <a:prstGeom prst="roundRect">
            <a:avLst>
              <a:gd name="adj" fmla="val 5208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25" name="Shape 23"/>
          <p:cNvSpPr/>
          <p:nvPr/>
        </p:nvSpPr>
        <p:spPr>
          <a:xfrm>
            <a:off x="3374136" y="3154680"/>
            <a:ext cx="319084" cy="319084"/>
          </a:xfrm>
          <a:prstGeom prst="ellipse">
            <a:avLst/>
          </a:prstGeom>
          <a:solidFill>
            <a:srgbClr val="A4D11E"/>
          </a:solidFill>
          <a:ln w="12700">
            <a:solidFill>
              <a:srgbClr val="A4D11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6" name="Text 24"/>
          <p:cNvSpPr/>
          <p:nvPr/>
        </p:nvSpPr>
        <p:spPr>
          <a:xfrm>
            <a:off x="3374136" y="3154680"/>
            <a:ext cx="319084" cy="31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de-DE" sz="1500" noProof="0" dirty="0"/>
          </a:p>
        </p:txBody>
      </p:sp>
      <p:sp>
        <p:nvSpPr>
          <p:cNvPr id="27" name="Text 25"/>
          <p:cNvSpPr/>
          <p:nvPr/>
        </p:nvSpPr>
        <p:spPr>
          <a:xfrm>
            <a:off x="3849624" y="3191256"/>
            <a:ext cx="1671389" cy="26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Umrechnen</a:t>
            </a:r>
            <a:endParaRPr lang="de-DE" sz="1350" noProof="0" dirty="0"/>
          </a:p>
        </p:txBody>
      </p:sp>
      <p:sp>
        <p:nvSpPr>
          <p:cNvPr id="28" name="Text 26"/>
          <p:cNvSpPr/>
          <p:nvPr/>
        </p:nvSpPr>
        <p:spPr>
          <a:xfrm>
            <a:off x="3374137" y="3630168"/>
            <a:ext cx="2036060" cy="9116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00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 (MW) wird in Energie (MWh) umgerechnet – jeder Messpunkt mit seinem echten Zeitintervall gewichtet.</a:t>
            </a:r>
            <a:endParaRPr lang="de-DE" sz="1000" noProof="0" dirty="0"/>
          </a:p>
        </p:txBody>
      </p:sp>
      <p:sp>
        <p:nvSpPr>
          <p:cNvPr id="29" name="Shape 27"/>
          <p:cNvSpPr/>
          <p:nvPr/>
        </p:nvSpPr>
        <p:spPr>
          <a:xfrm>
            <a:off x="6135624" y="3026664"/>
            <a:ext cx="2279171" cy="1458669"/>
          </a:xfrm>
          <a:prstGeom prst="roundRect">
            <a:avLst>
              <a:gd name="adj" fmla="val 5208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sp>
        <p:nvSpPr>
          <p:cNvPr id="30" name="Shape 28"/>
          <p:cNvSpPr/>
          <p:nvPr/>
        </p:nvSpPr>
        <p:spPr>
          <a:xfrm>
            <a:off x="6281928" y="3154680"/>
            <a:ext cx="319084" cy="319084"/>
          </a:xfrm>
          <a:prstGeom prst="ellipse">
            <a:avLst/>
          </a:prstGeom>
          <a:solidFill>
            <a:srgbClr val="A4D11E"/>
          </a:solidFill>
          <a:ln w="12700">
            <a:solidFill>
              <a:srgbClr val="A4D11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1" name="Text 29"/>
          <p:cNvSpPr/>
          <p:nvPr/>
        </p:nvSpPr>
        <p:spPr>
          <a:xfrm>
            <a:off x="6281928" y="3154680"/>
            <a:ext cx="319084" cy="31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500" b="1" noProof="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de-DE" sz="1500" noProof="0" dirty="0"/>
          </a:p>
        </p:txBody>
      </p:sp>
      <p:sp>
        <p:nvSpPr>
          <p:cNvPr id="32" name="Text 30"/>
          <p:cNvSpPr/>
          <p:nvPr/>
        </p:nvSpPr>
        <p:spPr>
          <a:xfrm>
            <a:off x="6757416" y="3191256"/>
            <a:ext cx="1671389" cy="26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&amp; Zeichnen</a:t>
            </a:r>
            <a:endParaRPr lang="de-DE" sz="1350" noProof="0" dirty="0"/>
          </a:p>
        </p:txBody>
      </p:sp>
      <p:sp>
        <p:nvSpPr>
          <p:cNvPr id="33" name="Text 31"/>
          <p:cNvSpPr/>
          <p:nvPr/>
        </p:nvSpPr>
        <p:spPr>
          <a:xfrm>
            <a:off x="6281929" y="3630168"/>
            <a:ext cx="2036060" cy="9116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00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r>
              <a:rPr lang="de-DE" sz="100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fasst zu Monats- und Jahreswerten zusammen, </a:t>
            </a:r>
            <a:r>
              <a:rPr lang="de-DE" sz="100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de-DE" sz="100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zeichnet – jedes Diagramm wird doppelt gespeichert (hell + dunkel).</a:t>
            </a:r>
            <a:endParaRPr lang="de-DE" sz="1000" noProof="0" dirty="0"/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F396F4C9-DD40-526B-EBDC-81E53368DC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501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Codesicht – Probleme &amp; Lösungen</a:t>
            </a:r>
            <a:endParaRPr lang="de-DE" sz="25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de-DE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3490736" cy="640653"/>
          </a:xfrm>
          <a:prstGeom prst="roundRect">
            <a:avLst>
              <a:gd name="adj" fmla="val 10256"/>
            </a:avLst>
          </a:prstGeom>
          <a:solidFill>
            <a:srgbClr val="2A1E22"/>
          </a:solidFill>
          <a:ln w="12700">
            <a:solidFill>
              <a:srgbClr val="2A1E22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268971" cy="558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API ist langsam – erster Datenabruf dauert über 30 Minuten</a:t>
            </a:r>
            <a:endParaRPr lang="de-DE" sz="980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4039132" y="1337976"/>
            <a:ext cx="213551" cy="213551"/>
          </a:xfrm>
          <a:prstGeom prst="rect">
            <a:avLst/>
          </a:prstGeom>
          <a:ln>
            <a:noFill/>
          </a:ln>
        </p:spPr>
      </p:pic>
      <p:sp>
        <p:nvSpPr>
          <p:cNvPr id="7" name="Shape 4"/>
          <p:cNvSpPr/>
          <p:nvPr/>
        </p:nvSpPr>
        <p:spPr>
          <a:xfrm>
            <a:off x="4590288" y="1115568"/>
            <a:ext cx="3778208" cy="640653"/>
          </a:xfrm>
          <a:prstGeom prst="roundRect">
            <a:avLst>
              <a:gd name="adj" fmla="val 10256"/>
            </a:avLst>
          </a:prstGeom>
          <a:solidFill>
            <a:srgbClr val="16281F"/>
          </a:solidFill>
          <a:ln w="12700">
            <a:solidFill>
              <a:srgbClr val="16281F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5"/>
          <p:cNvSpPr/>
          <p:nvPr/>
        </p:nvSpPr>
        <p:spPr>
          <a:xfrm>
            <a:off x="4727448" y="1170432"/>
            <a:ext cx="3548230" cy="558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Festplatten-Cache + paralleles Laden: Einmal geladene Daten kommen ab sofort in Sekunden von der Festplatte</a:t>
            </a:r>
            <a:endParaRPr lang="de-DE" sz="980" noProof="0" dirty="0"/>
          </a:p>
        </p:txBody>
      </p:sp>
      <p:sp>
        <p:nvSpPr>
          <p:cNvPr id="9" name="Shape 6"/>
          <p:cNvSpPr/>
          <p:nvPr/>
        </p:nvSpPr>
        <p:spPr>
          <a:xfrm>
            <a:off x="320040" y="1901952"/>
            <a:ext cx="3490736" cy="640653"/>
          </a:xfrm>
          <a:prstGeom prst="roundRect">
            <a:avLst>
              <a:gd name="adj" fmla="val 10256"/>
            </a:avLst>
          </a:prstGeom>
          <a:solidFill>
            <a:srgbClr val="2A1E22"/>
          </a:solidFill>
          <a:ln w="12700">
            <a:solidFill>
              <a:srgbClr val="2A1E22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Text 7"/>
          <p:cNvSpPr/>
          <p:nvPr/>
        </p:nvSpPr>
        <p:spPr>
          <a:xfrm>
            <a:off x="457200" y="1956816"/>
            <a:ext cx="3268971" cy="558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geheime API-Schlüssel darf nicht öffentlich auf GitHub landen</a:t>
            </a:r>
            <a:endParaRPr lang="de-DE" sz="980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4039132" y="2124360"/>
            <a:ext cx="213551" cy="213551"/>
          </a:xfrm>
          <a:prstGeom prst="rect">
            <a:avLst/>
          </a:prstGeom>
          <a:ln>
            <a:noFill/>
          </a:ln>
        </p:spPr>
      </p:pic>
      <p:sp>
        <p:nvSpPr>
          <p:cNvPr id="12" name="Shape 8"/>
          <p:cNvSpPr/>
          <p:nvPr/>
        </p:nvSpPr>
        <p:spPr>
          <a:xfrm>
            <a:off x="4590288" y="1901952"/>
            <a:ext cx="3778208" cy="640653"/>
          </a:xfrm>
          <a:prstGeom prst="roundRect">
            <a:avLst>
              <a:gd name="adj" fmla="val 10256"/>
            </a:avLst>
          </a:prstGeom>
          <a:solidFill>
            <a:srgbClr val="16281F"/>
          </a:solidFill>
          <a:ln w="12700">
            <a:solidFill>
              <a:srgbClr val="16281F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3" name="Text 9"/>
          <p:cNvSpPr/>
          <p:nvPr/>
        </p:nvSpPr>
        <p:spPr>
          <a:xfrm>
            <a:off x="4727448" y="1956816"/>
            <a:ext cx="3548230" cy="558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de-DE" sz="980" noProof="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-Datei + .</a:t>
            </a:r>
            <a:r>
              <a:rPr lang="de-DE" sz="980" noProof="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</a:t>
            </a: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Der Schlüssel bleibt nur auf dem eigenen Rechner und wird nie mit hochgeladen</a:t>
            </a:r>
            <a:endParaRPr lang="de-DE" sz="980" noProof="0" dirty="0"/>
          </a:p>
        </p:txBody>
      </p:sp>
      <p:sp>
        <p:nvSpPr>
          <p:cNvPr id="14" name="Shape 10"/>
          <p:cNvSpPr/>
          <p:nvPr/>
        </p:nvSpPr>
        <p:spPr>
          <a:xfrm>
            <a:off x="320040" y="2688336"/>
            <a:ext cx="3490736" cy="640653"/>
          </a:xfrm>
          <a:prstGeom prst="roundRect">
            <a:avLst>
              <a:gd name="adj" fmla="val 10256"/>
            </a:avLst>
          </a:prstGeom>
          <a:solidFill>
            <a:srgbClr val="2A1E22"/>
          </a:solidFill>
          <a:ln w="12700">
            <a:solidFill>
              <a:srgbClr val="2A1E22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5" name="Text 11"/>
          <p:cNvSpPr/>
          <p:nvPr/>
        </p:nvSpPr>
        <p:spPr>
          <a:xfrm>
            <a:off x="457200" y="2743200"/>
            <a:ext cx="3268971" cy="558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Land meldet seine Daten in der eigenen Zeitzone</a:t>
            </a:r>
            <a:endParaRPr lang="de-DE" sz="980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4039132" y="2910744"/>
            <a:ext cx="213551" cy="213551"/>
          </a:xfrm>
          <a:prstGeom prst="rect">
            <a:avLst/>
          </a:prstGeom>
          <a:ln>
            <a:noFill/>
          </a:ln>
        </p:spPr>
      </p:pic>
      <p:sp>
        <p:nvSpPr>
          <p:cNvPr id="17" name="Shape 12"/>
          <p:cNvSpPr/>
          <p:nvPr/>
        </p:nvSpPr>
        <p:spPr>
          <a:xfrm>
            <a:off x="4590288" y="2688336"/>
            <a:ext cx="3778208" cy="640653"/>
          </a:xfrm>
          <a:prstGeom prst="roundRect">
            <a:avLst>
              <a:gd name="adj" fmla="val 10256"/>
            </a:avLst>
          </a:prstGeom>
          <a:solidFill>
            <a:srgbClr val="16281F"/>
          </a:solidFill>
          <a:ln w="12700">
            <a:solidFill>
              <a:srgbClr val="16281F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8" name="Text 13"/>
          <p:cNvSpPr/>
          <p:nvPr/>
        </p:nvSpPr>
        <p:spPr>
          <a:xfrm>
            <a:off x="4727448" y="2743200"/>
            <a:ext cx="3548230" cy="558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wird auf UTC vereinheitlicht – vorher „verschwand“ beim Zusammenfügen sogar der Januar!</a:t>
            </a:r>
            <a:endParaRPr lang="de-DE" sz="980" noProof="0" dirty="0"/>
          </a:p>
        </p:txBody>
      </p:sp>
      <p:sp>
        <p:nvSpPr>
          <p:cNvPr id="19" name="Shape 14"/>
          <p:cNvSpPr/>
          <p:nvPr/>
        </p:nvSpPr>
        <p:spPr>
          <a:xfrm>
            <a:off x="320040" y="3474720"/>
            <a:ext cx="3490736" cy="640653"/>
          </a:xfrm>
          <a:prstGeom prst="roundRect">
            <a:avLst>
              <a:gd name="adj" fmla="val 10256"/>
            </a:avLst>
          </a:prstGeom>
          <a:solidFill>
            <a:srgbClr val="2A1E22"/>
          </a:solidFill>
          <a:ln w="12700">
            <a:solidFill>
              <a:srgbClr val="2A1E22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Text 15"/>
          <p:cNvSpPr/>
          <p:nvPr/>
        </p:nvSpPr>
        <p:spPr>
          <a:xfrm>
            <a:off x="457200" y="3529584"/>
            <a:ext cx="3268971" cy="558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Polen &amp; Norwegen wechseln mitten im Jahr die Messauflösung (60 → 15 Min.)</a:t>
            </a:r>
            <a:endParaRPr lang="de-DE" sz="980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4039132" y="3697128"/>
            <a:ext cx="213551" cy="213551"/>
          </a:xfrm>
          <a:prstGeom prst="rect">
            <a:avLst/>
          </a:prstGeom>
          <a:ln>
            <a:noFill/>
          </a:ln>
        </p:spPr>
      </p:pic>
      <p:sp>
        <p:nvSpPr>
          <p:cNvPr id="22" name="Shape 16"/>
          <p:cNvSpPr/>
          <p:nvPr/>
        </p:nvSpPr>
        <p:spPr>
          <a:xfrm>
            <a:off x="4590288" y="3474720"/>
            <a:ext cx="3778208" cy="640653"/>
          </a:xfrm>
          <a:prstGeom prst="roundRect">
            <a:avLst>
              <a:gd name="adj" fmla="val 10256"/>
            </a:avLst>
          </a:prstGeom>
          <a:solidFill>
            <a:srgbClr val="16281F"/>
          </a:solidFill>
          <a:ln w="12700">
            <a:solidFill>
              <a:srgbClr val="16281F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3" name="Text 17"/>
          <p:cNvSpPr/>
          <p:nvPr/>
        </p:nvSpPr>
        <p:spPr>
          <a:xfrm>
            <a:off x="4727448" y="3529584"/>
            <a:ext cx="3548230" cy="558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Messpunkt wird mit seinem echten Zeitabstand gewichtet – sonst wären die Energiewerte bis zu 4× zu hoch</a:t>
            </a:r>
            <a:endParaRPr lang="de-DE" sz="980" noProof="0" dirty="0"/>
          </a:p>
        </p:txBody>
      </p:sp>
      <p:sp>
        <p:nvSpPr>
          <p:cNvPr id="24" name="Shape 18"/>
          <p:cNvSpPr/>
          <p:nvPr/>
        </p:nvSpPr>
        <p:spPr>
          <a:xfrm>
            <a:off x="320040" y="4261104"/>
            <a:ext cx="3490736" cy="640653"/>
          </a:xfrm>
          <a:prstGeom prst="roundRect">
            <a:avLst>
              <a:gd name="adj" fmla="val 10256"/>
            </a:avLst>
          </a:prstGeom>
          <a:solidFill>
            <a:srgbClr val="2A1E22"/>
          </a:solidFill>
          <a:ln w="12700">
            <a:solidFill>
              <a:srgbClr val="2A1E22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5" name="Text 19"/>
          <p:cNvSpPr/>
          <p:nvPr/>
        </p:nvSpPr>
        <p:spPr>
          <a:xfrm>
            <a:off x="457200" y="4315968"/>
            <a:ext cx="3268971" cy="558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ENTSO-E-Server hat Aussetzer (504-Fehler, abgebrochene Verbindungen)</a:t>
            </a:r>
            <a:endParaRPr lang="de-DE" sz="980" noProof="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4039132" y="4483512"/>
            <a:ext cx="213551" cy="213551"/>
          </a:xfrm>
          <a:prstGeom prst="rect">
            <a:avLst/>
          </a:prstGeom>
          <a:ln>
            <a:noFill/>
          </a:ln>
        </p:spPr>
      </p:pic>
      <p:sp>
        <p:nvSpPr>
          <p:cNvPr id="27" name="Shape 20"/>
          <p:cNvSpPr/>
          <p:nvPr/>
        </p:nvSpPr>
        <p:spPr>
          <a:xfrm>
            <a:off x="4590288" y="4261104"/>
            <a:ext cx="3778208" cy="640653"/>
          </a:xfrm>
          <a:prstGeom prst="roundRect">
            <a:avLst>
              <a:gd name="adj" fmla="val 10256"/>
            </a:avLst>
          </a:prstGeom>
          <a:solidFill>
            <a:srgbClr val="16281F"/>
          </a:solidFill>
          <a:ln w="12700">
            <a:solidFill>
              <a:srgbClr val="16281F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8" name="Text 21"/>
          <p:cNvSpPr/>
          <p:nvPr/>
        </p:nvSpPr>
        <p:spPr>
          <a:xfrm>
            <a:off x="4727448" y="4315968"/>
            <a:ext cx="3548230" cy="558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Gezielte Fehlerbehandlung pro Land: Scheitert eine Abfrage, läuft das Notebook trotzdem weiter</a:t>
            </a:r>
            <a:endParaRPr lang="de-DE" sz="980" noProof="0" dirty="0"/>
          </a:p>
        </p:txBody>
      </p:sp>
      <p:sp>
        <p:nvSpPr>
          <p:cNvPr id="29" name="Text 22"/>
          <p:cNvSpPr/>
          <p:nvPr/>
        </p:nvSpPr>
        <p:spPr>
          <a:xfrm>
            <a:off x="320040" y="896112"/>
            <a:ext cx="1642699" cy="205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b="1" noProof="0" dirty="0">
                <a:solidFill>
                  <a:srgbClr val="E0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de-DE" sz="1000" noProof="0" dirty="0"/>
          </a:p>
        </p:txBody>
      </p:sp>
      <p:sp>
        <p:nvSpPr>
          <p:cNvPr id="30" name="Text 23"/>
          <p:cNvSpPr/>
          <p:nvPr/>
        </p:nvSpPr>
        <p:spPr>
          <a:xfrm>
            <a:off x="4590288" y="896112"/>
            <a:ext cx="1642699" cy="205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000" b="1" noProof="0" dirty="0">
                <a:solidFill>
                  <a:srgbClr val="98C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Lösung</a:t>
            </a:r>
            <a:endParaRPr lang="de-DE" sz="1000" noProof="0" dirty="0"/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8A48C9BF-065C-12A7-7D77-0230357343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115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de-DE" sz="25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50" i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erreicht haben – und wohin die Reise gehen kann</a:t>
            </a:r>
            <a:endParaRPr lang="de-DE" sz="125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929380" cy="3497580"/>
          </a:xfrm>
          <a:prstGeom prst="roundRect">
            <a:avLst>
              <a:gd name="adj" fmla="val 2963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2920" y="1298448"/>
            <a:ext cx="345440" cy="345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335024"/>
            <a:ext cx="3108960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wurde erreicht?</a:t>
            </a:r>
            <a:endParaRPr lang="de-DE" sz="1400" noProof="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3583940" cy="276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de-DE" sz="10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Vollautomatischer Datenabruf von der offiziellen ENTSO-E API</a:t>
            </a:r>
            <a:endParaRPr lang="de-DE" sz="108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de-DE" sz="10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Datenverarbeitung: Cache, Parallelisierung, Zeitzonen- &amp; Auflösungskorrektur</a:t>
            </a:r>
            <a:endParaRPr lang="de-DE" sz="108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de-DE" sz="10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Länder × 3 Jahre, über 20 Diagrammtypen – inkl. CO₂-Intensität und Prognosevergleich</a:t>
            </a:r>
            <a:endParaRPr lang="de-DE" sz="108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de-DE" sz="10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Teamarbeit über GitHub: Forks, Pull </a:t>
            </a:r>
            <a:r>
              <a:rPr lang="de-DE" sz="1080" noProof="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r>
              <a:rPr lang="de-DE" sz="10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gemeinsames Notebook</a:t>
            </a:r>
            <a:endParaRPr lang="de-DE" sz="1080" noProof="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3929380" cy="3497580"/>
          </a:xfrm>
          <a:prstGeom prst="roundRect">
            <a:avLst>
              <a:gd name="adj" fmla="val 2963"/>
            </a:avLst>
          </a:prstGeom>
          <a:solidFill>
            <a:srgbClr val="2E333A"/>
          </a:solidFill>
          <a:ln w="12700">
            <a:solidFill>
              <a:srgbClr val="1A2332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98448"/>
            <a:ext cx="345440" cy="345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0952" y="1335024"/>
            <a:ext cx="3108960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noProof="0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Mögliche Erweiterungen</a:t>
            </a:r>
            <a:endParaRPr lang="de-DE" sz="1400" noProof="0" dirty="0"/>
          </a:p>
        </p:txBody>
      </p:sp>
      <p:sp>
        <p:nvSpPr>
          <p:cNvPr id="11" name="Text 7"/>
          <p:cNvSpPr/>
          <p:nvPr/>
        </p:nvSpPr>
        <p:spPr>
          <a:xfrm>
            <a:off x="4846320" y="1783080"/>
            <a:ext cx="3583940" cy="276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de-DE" sz="10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Live-Dashboard mit Echtzeitdaten (z. B. </a:t>
            </a:r>
            <a:r>
              <a:rPr lang="de-DE" sz="1080" noProof="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de-DE" sz="10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de-DE" sz="108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de-DE" sz="10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Strompreise mit Last &amp; Erzeugung koppeln: Wann ist Strom teuer – und warum?</a:t>
            </a:r>
            <a:endParaRPr lang="de-DE" sz="108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de-DE" sz="10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Länder &amp; längere Zeiträume für belastbarere Trends</a:t>
            </a:r>
            <a:endParaRPr lang="de-DE" sz="108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de-DE" sz="1080" noProof="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Prognosegüte vertiefen: Wie gut sagen die Netzbetreiber Wind &amp; Solar wirklich voraus?</a:t>
            </a:r>
            <a:endParaRPr lang="de-DE" sz="1080" noProof="0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DA1A67F-D5B4-0C70-469A-80B7E31E94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803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7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Dank!</a:t>
            </a:r>
            <a:endParaRPr lang="de-DE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i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Diskussion</a:t>
            </a:r>
            <a:endParaRPr lang="de-DE" sz="1800" noProof="0" dirty="0"/>
          </a:p>
        </p:txBody>
      </p:sp>
      <p:sp>
        <p:nvSpPr>
          <p:cNvPr id="4" name="Text 2"/>
          <p:cNvSpPr/>
          <p:nvPr/>
        </p:nvSpPr>
        <p:spPr>
          <a:xfrm>
            <a:off x="1371600" y="2514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b="1" noProof="0" dirty="0">
                <a:solidFill>
                  <a:srgbClr val="A4D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 &amp; Werkzeuge</a:t>
            </a:r>
            <a:endParaRPr lang="de-DE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29077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5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Transparency </a:t>
            </a:r>
            <a:r>
              <a:rPr lang="de-DE" sz="105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r>
              <a:rPr lang="de-DE" sz="105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transparency.entsoe.eu (Last- &amp; Erzeugungsdaten)</a:t>
            </a:r>
            <a:endParaRPr lang="de-DE" sz="105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32369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5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entsoe-py</a:t>
            </a:r>
            <a:r>
              <a:rPr lang="de-DE" sz="105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Python-Schnittstelle zur ENTSO-E API (github.com/</a:t>
            </a:r>
            <a:r>
              <a:rPr lang="de-DE" sz="105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EnergieID</a:t>
            </a:r>
            <a:r>
              <a:rPr lang="de-DE" sz="105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de-DE" sz="105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entsoe-py</a:t>
            </a:r>
            <a:r>
              <a:rPr lang="de-DE" sz="105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de-DE" sz="105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5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r>
              <a:rPr lang="de-DE" sz="105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de-DE" sz="105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de-DE" sz="105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de-DE" sz="105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r>
              <a:rPr lang="de-DE" sz="105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de-DE" sz="1050" noProof="0" dirty="0" err="1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matplotx</a:t>
            </a:r>
            <a:r>
              <a:rPr lang="de-DE" sz="105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Datenanalyse &amp; Visualisierung</a:t>
            </a:r>
            <a:endParaRPr lang="de-DE" sz="105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38953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5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– Lebenszyklus-Emissionsfaktoren für die CO₂-Berechnung</a:t>
            </a:r>
            <a:endParaRPr lang="de-DE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914400" y="42245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50" noProof="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Repository: github.com/LukasK110898/Europavergleich-IT-Projekt-2026</a:t>
            </a:r>
            <a:endParaRPr lang="de-DE" sz="105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00" i="1" noProof="0" dirty="0">
                <a:solidFill>
                  <a:srgbClr val="5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 Knorr · Vincent Matt · Anton Hüttner · Martin Rüther   |   IT-Projekt 2026</a:t>
            </a:r>
            <a:endParaRPr lang="de-DE" sz="1000" noProof="0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407FDAC-CEDF-D5EC-4B53-9F6AA8151A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9"/>
          <a:stretch/>
        </p:blipFill>
        <p:spPr bwMode="auto">
          <a:xfrm>
            <a:off x="8596852" y="4640580"/>
            <a:ext cx="365825" cy="34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273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14659482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0EB177-40AA-4845-94DD-E6253ACD0416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fcfa70f-b62d-436b-8fad-9a993bed3d7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1956</Words>
  <Application>Microsoft Macintosh PowerPoint</Application>
  <PresentationFormat>Bildschirmpräsentation (16:9)</PresentationFormat>
  <Paragraphs>192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 [1782146594821]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Europäische Energielastanalyse 2023–2025</dc:title>
  <dc:subject>PptxGenJS Presentation</dc:subject>
  <dc:creator>PptxGenJS</dc:creator>
  <cp:lastModifiedBy>Lukas Knorr</cp:lastModifiedBy>
  <cp:revision>6</cp:revision>
  <dcterms:created xsi:type="dcterms:W3CDTF">2026-06-11T15:47:33Z</dcterms:created>
  <dcterms:modified xsi:type="dcterms:W3CDTF">2026-06-22T17:08:25Z</dcterms:modified>
</cp:coreProperties>
</file>